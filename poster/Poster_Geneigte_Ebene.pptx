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9612000" cy="9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222222"/>
                </a:solidFill>
                <a:latin typeface="Arial"/>
              </a:rPr>
              <a:t>Die geneigte Ebene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296000"/>
            <a:ext cx="9612000" cy="43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1F6FB2"/>
                </a:solidFill>
                <a:latin typeface="Arial"/>
              </a:rPr>
              <a:t>Goldene Regel der Mechanik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764000"/>
            <a:ext cx="9612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88888"/>
                </a:solidFill>
                <a:latin typeface="Arial"/>
              </a:rPr>
              <a:t>Can, Antonio, Florian, Philly  ·  MCG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2124000"/>
            <a:ext cx="9612000" cy="432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376000"/>
            <a:ext cx="4662000" cy="43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6FB2"/>
                </a:solidFill>
                <a:latin typeface="Arial"/>
              </a:rPr>
              <a:t>Was ist das?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0"/>
            <a:ext cx="4662000" cy="18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eine schräge Rampe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ein Körper wird hochgezogen statt senkrecht gehoben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kraftumformende Einrichtung: man braucht weniger Kraft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Beispiel: Passstraße mit vielen Kurven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90000" y="2376000"/>
            <a:ext cx="4662000" cy="25920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4000" y="2484000"/>
            <a:ext cx="4374000" cy="43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6FB2"/>
                </a:solidFill>
                <a:latin typeface="Arial"/>
              </a:rPr>
              <a:t>Die Goldene Regel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4000" y="2952000"/>
            <a:ext cx="4374000" cy="64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22222"/>
                </a:solidFill>
                <a:latin typeface="Arial"/>
              </a:rPr>
              <a:t>„Was man an Kraft spart, muss man mit Strecke bezahlen.“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4000" y="3672000"/>
            <a:ext cx="4374000" cy="129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lange Strecke → kleine Kraft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kurze Strecke → große Kraft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die Arbeit W = F · s bleibt gleich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Energie spart man nicht!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5256000"/>
            <a:ext cx="9612000" cy="43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6FB2"/>
                </a:solidFill>
                <a:latin typeface="Arial"/>
              </a:rPr>
              <a:t>So funktioniert es</a:t>
            </a:r>
          </a:p>
        </p:txBody>
      </p:sp>
      <p:sp>
        <p:nvSpPr>
          <p:cNvPr id="13" name="Right Triangle 12"/>
          <p:cNvSpPr/>
          <p:nvPr/>
        </p:nvSpPr>
        <p:spPr>
          <a:xfrm flipH="1">
            <a:off x="1260000" y="6048000"/>
            <a:ext cx="4320000" cy="1620000"/>
          </a:xfrm>
          <a:prstGeom prst="rtTriangle">
            <a:avLst/>
          </a:prstGeom>
          <a:solidFill>
            <a:srgbClr val="D9B9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0000" y="7668000"/>
            <a:ext cx="4860000" cy="72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20366637">
            <a:off x="2823118" y="6643314"/>
            <a:ext cx="648000" cy="288000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3484196" y="6382820"/>
            <a:ext cx="741573" cy="278090"/>
          </a:xfrm>
          <a:prstGeom prst="line">
            <a:avLst/>
          </a:prstGeom>
          <a:ln w="381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1118" y="5995314"/>
            <a:ext cx="108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Kraft F</a:t>
            </a:r>
          </a:p>
        </p:txBody>
      </p:sp>
      <p:sp>
        <p:nvSpPr>
          <p:cNvPr id="18" name="TextBox 17"/>
          <p:cNvSpPr txBox="1"/>
          <p:nvPr/>
        </p:nvSpPr>
        <p:spPr>
          <a:xfrm rot="20366637">
            <a:off x="3636000" y="6939000"/>
            <a:ext cx="144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Strecke 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796000" y="6048000"/>
            <a:ext cx="0" cy="1620000"/>
          </a:xfrm>
          <a:prstGeom prst="line">
            <a:avLst/>
          </a:prstGeom>
          <a:ln w="1905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68000" y="6714000"/>
            <a:ext cx="108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Höhe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0000" y="5832000"/>
            <a:ext cx="3132000" cy="19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Rechenbeispiel: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Wagen (1,0 kg) auf 1,0 m Höhe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direkt hoch: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9,8 N · 1,0 m = 9,8 J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über die Rampe: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4,1 N · 2,4 m ≈ 9,8 J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B2"/>
                </a:solidFill>
                <a:latin typeface="Arial"/>
              </a:rPr>
              <a:t>→ gleiche Arbeit!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7992000"/>
            <a:ext cx="9612000" cy="432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8172000"/>
            <a:ext cx="9612000" cy="43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6FB2"/>
                </a:solidFill>
                <a:latin typeface="Arial"/>
              </a:rPr>
              <a:t>Experiment: Rampen im Vergleich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8676000"/>
            <a:ext cx="4320000" cy="28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Aufbau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Wagen (1,0 kg), Rampe, Kraftmesser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Rampe endet immer in 1,0 m Höhe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Durchführung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Wagen langsam die Rampe hochziehen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Kraft F ablesen, Strecke s messen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mit verschieden steilen Rampen wiederholen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jedes Mal F · s ausrechnen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220000" y="8712000"/>
          <a:ext cx="4932000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000"/>
                <a:gridCol w="1644000"/>
                <a:gridCol w="1644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 in m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 in N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 · s in N·m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9,8</a:t>
                      </a:r>
                    </a:p>
                  </a:txBody>
                  <a:tcPr>
                    <a:solidFill>
                      <a:srgbClr val="EAF2FA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9,8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>
                    <a:solidFill>
                      <a:srgbClr val="EAF2FA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8,1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9,7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220000" y="10692000"/>
            <a:ext cx="4932000" cy="21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Arial"/>
              </a:rPr>
              <a:t>Messwerte aus [1], S. 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0000" y="10980000"/>
            <a:ext cx="4932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Ergebnis: F · s ist immer ca. 9,8 N·m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→ Goldene Regel bestätigt!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11772000"/>
            <a:ext cx="9612000" cy="432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000" y="11952000"/>
            <a:ext cx="9612000" cy="43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6FB2"/>
                </a:solidFill>
                <a:latin typeface="Arial"/>
              </a:rPr>
              <a:t>Im Alltag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0" y="12420000"/>
            <a:ext cx="4662000" cy="1800000"/>
          </a:xfrm>
          <a:prstGeom prst="rect">
            <a:avLst/>
          </a:prstGeom>
          <a:noFill/>
          <a:ln w="19050">
            <a:solidFill>
              <a:srgbClr val="888888"/>
            </a:solidFill>
            <a:prstDash val="dash"/>
          </a:ln>
        </p:spPr>
        <p:txBody>
          <a:bodyPr rtlCol="0" anchor="ctr"/>
          <a:lstStyle/>
          <a:p>
            <a:pPr algn="ctr"/>
            <a:r>
              <a:rPr sz="1400">
                <a:solidFill>
                  <a:srgbClr val="888888"/>
                </a:solidFill>
                <a:latin typeface="Arial"/>
              </a:rPr>
              <a:t>eigenes Foto hier einfügen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14256000"/>
            <a:ext cx="4662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Bild 1: Passstraße – lange Strecke, weniger Kraft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90000" y="12420000"/>
            <a:ext cx="4662000" cy="1800000"/>
          </a:xfrm>
          <a:prstGeom prst="rect">
            <a:avLst/>
          </a:prstGeom>
          <a:noFill/>
          <a:ln w="19050">
            <a:solidFill>
              <a:srgbClr val="888888"/>
            </a:solidFill>
            <a:prstDash val="dash"/>
          </a:ln>
        </p:spPr>
        <p:txBody>
          <a:bodyPr rtlCol="0" anchor="ctr"/>
          <a:lstStyle/>
          <a:p>
            <a:pPr algn="ctr"/>
            <a:r>
              <a:rPr sz="1400">
                <a:solidFill>
                  <a:srgbClr val="888888"/>
                </a:solidFill>
                <a:latin typeface="Arial"/>
              </a:rPr>
              <a:t>eigenes Foto hier einfügen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90000" y="14256000"/>
            <a:ext cx="4662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Bild 2: Rampe – lange Strecke, weniger Kraft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000" y="14580000"/>
            <a:ext cx="961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Arial"/>
              </a:rPr>
              <a:t>Quellen: [1] Universum Physik (Schulbuch), S. 90–93  ·  Fotos: eigene Aufnahmen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